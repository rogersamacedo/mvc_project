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16"/>
    <p:sldId id="266" r:id="rId17"/>
    <p:sldId id="267" r:id="rId18"/>
    <p:sldId id="268" r:id="rId19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>
                    <a:alpha val="92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MVC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Sistema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uso de MVC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View · Controller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310896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310896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Teste — Instrutor 3  |  SENAI  |  Maio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MVC?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é um padrão de arquitetura de software que separa a aplicação em três camadas: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834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83464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50876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852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os dados e a lógica de negócio. Faz a comunicação com o banco de dados.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834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834640" cy="109728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1508760"/>
            <a:ext cx="914400" cy="914400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2852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(Visão)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interface que o usuário vê e interage. Exibe os dados vindos do Model.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325880"/>
            <a:ext cx="2834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25880"/>
            <a:ext cx="2834640" cy="10972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1508760"/>
            <a:ext cx="914400" cy="9144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30936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09360" y="2852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(Controlador)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2004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as ações do usuário, chama o Model e decide qual View mostrar.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08960" y="269748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2697480"/>
            <a:ext cx="13716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840480" cy="40233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93268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9326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" y="932688"/>
            <a:ext cx="146304" cy="146304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meu_projeto/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model/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conexao.py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controller/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crud.py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view/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interface.py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6393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banco.db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9867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main.py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804672"/>
            <a:ext cx="4297680" cy="11430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804672"/>
            <a:ext cx="91440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model/conexao.py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12618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para conectar ao SQLite e manipular os dados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2103120"/>
            <a:ext cx="4297680" cy="11430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2103120"/>
            <a:ext cx="91440" cy="11430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1671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controller/crud.py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25603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inserir, buscar, atualizar e deletar registros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3401568"/>
            <a:ext cx="4297680" cy="11430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3401568"/>
            <a:ext cx="91440" cy="1143000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4655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view/interface.py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38587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e telas que o usuário vê no terminal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73152"/>
            <a:ext cx="493776" cy="49377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7315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Classe de Conexão com o Banco de Dados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32004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32004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 faz?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ao banco SQLite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85623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8105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tabela se não existir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295144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2494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novos registros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734056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6883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registros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172968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dados existentes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61188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66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registros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11880" y="777240"/>
            <a:ext cx="5212080" cy="3931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93268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21"/>
          <p:cNvSpPr/>
          <p:nvPr/>
        </p:nvSpPr>
        <p:spPr>
          <a:xfrm>
            <a:off x="4096512" y="9326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4352544" y="932688"/>
            <a:ext cx="146304" cy="146304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8778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conexao.py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12161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03320" y="139537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03320" y="1574597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Conexao: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03320" y="1753819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03320" y="193304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self.conn = sqlite3.connect(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03320" y="211226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"banco.db")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03320" y="229148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self.cursor = \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03320" y="2470709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self.conn.cursor()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03320" y="2649931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self.criar_tabela()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703320" y="282915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03320" y="300837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criar_tabela(self):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703320" y="318759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self.cursor.execute("""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03320" y="3366821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CREATE TABLE IF NOT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703320" y="3546043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EXISTS alunos (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703320" y="372526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id INTEGER PRIMARY KEY,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703320" y="39044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nome TEXT NOT NULL)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703320" y="408371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703320" y="4262933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self.conn.commit()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73152"/>
            <a:ext cx="493776" cy="49377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7315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— Operações CRUD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057400" cy="40233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2057400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91440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9144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1874520" cy="2743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" y="1874520"/>
            <a:ext cx="18379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inserir(self, nome):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self.cursor.execute(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"INSERT INTO alunos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(nome) VALUES (?)",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(nome,))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self.conn.commit()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59736" y="749808"/>
            <a:ext cx="2057400" cy="40233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9736" y="749808"/>
            <a:ext cx="20574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6936" y="91440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2916936" y="9144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51176" y="1371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51176" y="1828800"/>
            <a:ext cx="1874520" cy="2743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2569464" y="1874520"/>
            <a:ext cx="18379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consultar(self):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self.cursor.execute(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"SELECT * FROM alunos")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self.cursor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.fetchall()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90872" y="749808"/>
            <a:ext cx="2057400" cy="40233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749808"/>
            <a:ext cx="2057400" cy="914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8072" y="91440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E3B341"/>
          </a:solidFill>
          <a:ln/>
        </p:spPr>
      </p:sp>
      <p:sp>
        <p:nvSpPr>
          <p:cNvPr id="23" name="Text 21"/>
          <p:cNvSpPr/>
          <p:nvPr/>
        </p:nvSpPr>
        <p:spPr>
          <a:xfrm>
            <a:off x="5148072" y="9144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2312" y="1371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82312" y="1828800"/>
            <a:ext cx="1874520" cy="2743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874520"/>
            <a:ext cx="18379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alterar(self, id, nome):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self.cursor.execute(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"UPDATE alunos SET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nome=? WHERE id=?",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(nome, id))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self.conn.commit()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22008" y="749808"/>
            <a:ext cx="2057400" cy="40233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22008" y="749808"/>
            <a:ext cx="2057400" cy="91440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29" name="Shape 27"/>
          <p:cNvSpPr/>
          <p:nvPr/>
        </p:nvSpPr>
        <p:spPr>
          <a:xfrm>
            <a:off x="7379208" y="91440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FA657"/>
          </a:solidFill>
          <a:ln/>
        </p:spPr>
      </p:sp>
      <p:sp>
        <p:nvSpPr>
          <p:cNvPr id="30" name="Text 28"/>
          <p:cNvSpPr/>
          <p:nvPr/>
        </p:nvSpPr>
        <p:spPr>
          <a:xfrm>
            <a:off x="7379208" y="91440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13448" y="1371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13448" y="1828800"/>
            <a:ext cx="1874520" cy="2743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3" name="Text 31"/>
          <p:cNvSpPr/>
          <p:nvPr/>
        </p:nvSpPr>
        <p:spPr>
          <a:xfrm>
            <a:off x="7031736" y="1874520"/>
            <a:ext cx="18379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excluir(self, id):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self.cursor.execute(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"DELETE FROM alunos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 id=?",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(id,))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self.conn.commit()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73152"/>
            <a:ext cx="493776" cy="493776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7315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— Interface para o Usuário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32004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3200400" cy="91440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da 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164592" cy="164592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menus para o usuário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856232"/>
            <a:ext cx="164592" cy="164592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8105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entradas (input)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295144"/>
            <a:ext cx="164592" cy="164592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2494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resultados na tela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734056"/>
            <a:ext cx="164592" cy="164592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6883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acessa o banco diretamente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172968"/>
            <a:ext cx="164592" cy="164592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 o Controller para executar ações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611880"/>
            <a:ext cx="164592" cy="164592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66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separação de responsabilidades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11880" y="777240"/>
            <a:ext cx="5212080" cy="3931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932688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21"/>
          <p:cNvSpPr/>
          <p:nvPr/>
        </p:nvSpPr>
        <p:spPr>
          <a:xfrm>
            <a:off x="4096512" y="9326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4352544" y="932688"/>
            <a:ext cx="146304" cy="146304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8778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interface.py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12161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controller.crud import Crud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03320" y="139537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703320" y="1574597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menu():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03320" y="1753819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Crud()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03320" y="193304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03320" y="211226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print("\n=== SISTEMA ===")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03320" y="229148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print("1. Inserir aluno")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03320" y="2470709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print("2. Listar alunos")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03320" y="2649931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print("3. Alterar aluno")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703320" y="282915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print("4. Excluir aluno")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03320" y="300837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print("0. Sair")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703320" y="318759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 = input("Opção: ")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03320" y="3366821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op == "1":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703320" y="3546043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 = input("Nome: ")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703320" y="372526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c.inserir(n)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703320" y="39044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op == "2":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703320" y="408371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alunos = c.consultar()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703320" y="4262933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a in alunos: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703320" y="4442155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print(a)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do Sistema MVC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20116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2011680"/>
            <a:ext cx="1737360" cy="9144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21214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560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 a opção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20116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48840" y="2011680"/>
            <a:ext cx="1737360" cy="91440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21214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2560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e captura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0116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2011680"/>
            <a:ext cx="1737360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21214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560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a ação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20116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011680"/>
            <a:ext cx="173736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1214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2560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os dados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201168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0" y="2011680"/>
            <a:ext cx="1737360" cy="914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1214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2560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251460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86200" y="251460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251460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514600"/>
            <a:ext cx="-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3657600"/>
            <a:ext cx="7772400" cy="0"/>
          </a:xfrm>
          <a:prstGeom prst="line">
            <a:avLst/>
          </a:prstGeom>
          <a:noFill/>
          <a:ln w="19050">
            <a:solidFill>
              <a:srgbClr val="FFA657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2860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resposta retorna ao usuário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4114800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63040" y="41148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tem UMA responsabilidade → código mais organizado, fácil de manter e expandir!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o que aprendemos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978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que divide o sistema em 3 camadas independentes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601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13632" y="978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158191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Python que conecta ao SQLite e gerencia os dados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96012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85432" y="9784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158191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com as 4 operações CRUD: inserir, consultar, alterar, excluir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00200" y="25146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737360" y="2697480"/>
            <a:ext cx="502920" cy="502920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21" name="Text 19"/>
          <p:cNvSpPr/>
          <p:nvPr/>
        </p:nvSpPr>
        <p:spPr>
          <a:xfrm>
            <a:off x="17373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313432" y="2715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33192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menu no terminal que interage com o usuário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51460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697480"/>
            <a:ext cx="502920" cy="50292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85232" y="2715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33192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organizado, fácil de manter, testar e expandir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114800" cy="41148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2004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Tema: </a:t>
            </a:r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Sistema com MVC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Tecnologias: </a:t>
            </a:r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SQLite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Padrão: </a:t>
            </a:r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View · Controller (MVC)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4114800" cy="5486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4206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— Aula Teste — Instrutor 3 — Maio 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493776" cy="49377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" y="640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CRUD — CREATE: Inserindo um Aluno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Formulário em branco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4114800" cy="320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088136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" y="108813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1088136"/>
            <a:ext cx="128016" cy="128016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060704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3D3D3D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1060704"/>
            <a:ext cx="3072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325880"/>
            <a:ext cx="41148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" y="1389888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" y="13898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13898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Alunos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0" y="1417320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141732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633472" y="1417320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41732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38144" y="1417320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141732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6032" y="1673352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1673352"/>
            <a:ext cx="18288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1764792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8F4FB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7647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41832" y="174650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Aluno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205740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2221992"/>
            <a:ext cx="1609344" cy="237744"/>
          </a:xfrm>
          <a:prstGeom prst="rect">
            <a:avLst/>
          </a:prstGeom>
          <a:solidFill>
            <a:srgbClr val="FAFAFA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221992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João da Silva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260604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2770632"/>
            <a:ext cx="1609344" cy="237744"/>
          </a:xfrm>
          <a:prstGeom prst="rect">
            <a:avLst/>
          </a:prstGeom>
          <a:solidFill>
            <a:srgbClr val="FAFAFA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2770632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joao@email.com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154680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65760" y="3319272"/>
            <a:ext cx="1609344" cy="237744"/>
          </a:xfrm>
          <a:prstGeom prst="rect">
            <a:avLst/>
          </a:prstGeom>
          <a:solidFill>
            <a:srgbClr val="FAFAFA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3319272"/>
            <a:ext cx="1499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Desenvolvimento de Sistemas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666744"/>
            <a:ext cx="1609344" cy="228600"/>
          </a:xfrm>
          <a:prstGeom prst="roundRect">
            <a:avLst>
              <a:gd name="adj" fmla="val 20000"/>
            </a:avLst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666744"/>
            <a:ext cx="1609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Cadastrar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76272" y="1673352"/>
            <a:ext cx="2057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176272" y="1673352"/>
            <a:ext cx="20574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1" name="Text 39"/>
          <p:cNvSpPr/>
          <p:nvPr/>
        </p:nvSpPr>
        <p:spPr>
          <a:xfrm>
            <a:off x="228600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Alunos  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40280" y="2560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Nenhum aluno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cadastrado ainda.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7680" y="2560320"/>
            <a:ext cx="45720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4688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92040" y="7132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Formulário preenchido → Resultado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46320" y="1005840"/>
            <a:ext cx="4114800" cy="320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56048" y="1088136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8" name="Shape 46"/>
          <p:cNvSpPr/>
          <p:nvPr/>
        </p:nvSpPr>
        <p:spPr>
          <a:xfrm>
            <a:off x="5157216" y="108813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9" name="Shape 47"/>
          <p:cNvSpPr/>
          <p:nvPr/>
        </p:nvSpPr>
        <p:spPr>
          <a:xfrm>
            <a:off x="5358384" y="1088136"/>
            <a:ext cx="128016" cy="128016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50" name="Shape 48"/>
          <p:cNvSpPr/>
          <p:nvPr/>
        </p:nvSpPr>
        <p:spPr>
          <a:xfrm>
            <a:off x="5577840" y="1060704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3D3D3D"/>
          </a:solidFill>
          <a:ln/>
        </p:spPr>
      </p:sp>
      <p:sp>
        <p:nvSpPr>
          <p:cNvPr id="51" name="Text 49"/>
          <p:cNvSpPr/>
          <p:nvPr/>
        </p:nvSpPr>
        <p:spPr>
          <a:xfrm>
            <a:off x="5596128" y="1060704"/>
            <a:ext cx="3072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46320" y="1325880"/>
            <a:ext cx="41148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3" name="Shape 51"/>
          <p:cNvSpPr/>
          <p:nvPr/>
        </p:nvSpPr>
        <p:spPr>
          <a:xfrm>
            <a:off x="4956048" y="1389888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54" name="Text 52"/>
          <p:cNvSpPr/>
          <p:nvPr/>
        </p:nvSpPr>
        <p:spPr>
          <a:xfrm>
            <a:off x="4956048" y="13898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504688" y="13898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Alunos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92240" y="1417320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141732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296912" y="1417320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FFA6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96912" y="141732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101584" y="1417320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01584" y="141732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846320" y="1673352"/>
            <a:ext cx="4114800" cy="256032"/>
          </a:xfrm>
          <a:prstGeom prst="rect">
            <a:avLst/>
          </a:prstGeom>
          <a:solidFill>
            <a:srgbClr val="D4EDDA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46320" y="1673352"/>
            <a:ext cx="54864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4" name="Text 62"/>
          <p:cNvSpPr/>
          <p:nvPr/>
        </p:nvSpPr>
        <p:spPr>
          <a:xfrm>
            <a:off x="4937760" y="16733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Aluno 'João Silva' cadastrado com sucesso!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919472" y="1965960"/>
            <a:ext cx="1755648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919472" y="1965960"/>
            <a:ext cx="1755648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7" name="Shape 65"/>
          <p:cNvSpPr/>
          <p:nvPr/>
        </p:nvSpPr>
        <p:spPr>
          <a:xfrm>
            <a:off x="5029200" y="2057400"/>
            <a:ext cx="502920" cy="182880"/>
          </a:xfrm>
          <a:prstGeom prst="roundRect">
            <a:avLst>
              <a:gd name="adj" fmla="val 20000"/>
            </a:avLst>
          </a:prstGeom>
          <a:solidFill>
            <a:srgbClr val="D8F4FB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0" y="205740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05272" y="2039112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Aluno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029200" y="2350008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029200" y="2514600"/>
            <a:ext cx="1536192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84064" y="251460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Silva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29200" y="2898648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029200" y="3063240"/>
            <a:ext cx="1536192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84064" y="306324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joao@email.com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029200" y="3447288"/>
            <a:ext cx="1536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029200" y="3611880"/>
            <a:ext cx="1536192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84064" y="361188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de Sistemas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029200" y="3959352"/>
            <a:ext cx="1536192" cy="228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80" name="Text 78"/>
          <p:cNvSpPr/>
          <p:nvPr/>
        </p:nvSpPr>
        <p:spPr>
          <a:xfrm>
            <a:off x="5029200" y="3959352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Cadastrado!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748272" y="1965960"/>
            <a:ext cx="21488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748272" y="1965960"/>
            <a:ext cx="214884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3" name="Text 81"/>
          <p:cNvSpPr/>
          <p:nvPr/>
        </p:nvSpPr>
        <p:spPr>
          <a:xfrm>
            <a:off x="6858000" y="20299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Alunos  1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784848" y="2304288"/>
            <a:ext cx="2075688" cy="2011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5" name="Text 83"/>
          <p:cNvSpPr/>
          <p:nvPr/>
        </p:nvSpPr>
        <p:spPr>
          <a:xfrm>
            <a:off x="6821424" y="23042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| Nome          | Curso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784848" y="2505456"/>
            <a:ext cx="2075688" cy="219456"/>
          </a:xfrm>
          <a:prstGeom prst="rect">
            <a:avLst/>
          </a:prstGeom>
          <a:solidFill>
            <a:srgbClr val="E8F7FB"/>
          </a:solidFill>
          <a:ln/>
        </p:spPr>
      </p:sp>
      <p:sp>
        <p:nvSpPr>
          <p:cNvPr id="87" name="Text 85"/>
          <p:cNvSpPr/>
          <p:nvPr/>
        </p:nvSpPr>
        <p:spPr>
          <a:xfrm>
            <a:off x="6821424" y="25054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| João Silva    | Dev...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82880" y="4041648"/>
            <a:ext cx="877824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57200" y="41148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0F3460"/>
          </a:solidFill>
          <a:ln/>
        </p:spPr>
      </p:sp>
      <p:sp>
        <p:nvSpPr>
          <p:cNvPr id="90" name="Shape 88"/>
          <p:cNvSpPr/>
          <p:nvPr/>
        </p:nvSpPr>
        <p:spPr>
          <a:xfrm>
            <a:off x="457200" y="4114800"/>
            <a:ext cx="1828800" cy="54864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91" name="Text 89"/>
          <p:cNvSpPr/>
          <p:nvPr/>
        </p:nvSpPr>
        <p:spPr>
          <a:xfrm>
            <a:off x="457200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45720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/inserir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2286000" y="4206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CAE6"/>
                </a:solidFill>
              </a:rPr>
              <a:t>→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2651760" y="41148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0F3460"/>
          </a:solidFill>
          <a:ln/>
        </p:spPr>
      </p:sp>
      <p:sp>
        <p:nvSpPr>
          <p:cNvPr id="95" name="Shape 93"/>
          <p:cNvSpPr/>
          <p:nvPr/>
        </p:nvSpPr>
        <p:spPr>
          <a:xfrm>
            <a:off x="2651760" y="4114800"/>
            <a:ext cx="18288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6" name="Text 94"/>
          <p:cNvSpPr/>
          <p:nvPr/>
        </p:nvSpPr>
        <p:spPr>
          <a:xfrm>
            <a:off x="2651760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265176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crud.py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inserir()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4480560" y="4206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CAE6"/>
                </a:solidFill>
              </a:rPr>
              <a:t>→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4846320" y="41148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0F346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114800"/>
            <a:ext cx="18288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1" name="Text 99"/>
          <p:cNvSpPr/>
          <p:nvPr/>
        </p:nvSpPr>
        <p:spPr>
          <a:xfrm>
            <a:off x="4846320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84632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conexao.py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675120" y="4206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CAE6"/>
                </a:solidFill>
              </a:rPr>
              <a:t>→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7040880" y="41148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0F346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040880" y="4114800"/>
            <a:ext cx="1828800" cy="54864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06" name="Text 104"/>
          <p:cNvSpPr/>
          <p:nvPr/>
        </p:nvSpPr>
        <p:spPr>
          <a:xfrm>
            <a:off x="7040880" y="4169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7040880" y="4407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banco.db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commit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493776" cy="49377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" y="640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CRUD — READ: Consultando Alunos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69494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 acontece automaticamente ao carregar a página — SELECT * FROM alunos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8686800" cy="320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" y="1088136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539496" y="108813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740664" y="1088136"/>
            <a:ext cx="128016" cy="128016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060704"/>
            <a:ext cx="7680960" cy="201168"/>
          </a:xfrm>
          <a:prstGeom prst="roundRect">
            <a:avLst>
              <a:gd name="adj" fmla="val 13636"/>
            </a:avLst>
          </a:prstGeom>
          <a:solidFill>
            <a:srgbClr val="3D3D3D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" y="1060704"/>
            <a:ext cx="7644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  —  Lista de Alunos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325880"/>
            <a:ext cx="86868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" y="1389888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13898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13898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Alunos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1417320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41732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251192" y="1417320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51192" y="141732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055864" y="1417320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55864" y="141732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28600" y="1673352"/>
            <a:ext cx="8686800" cy="2560320"/>
          </a:xfrm>
          <a:prstGeom prst="rect">
            <a:avLst/>
          </a:prstGeom>
          <a:solidFill>
            <a:srgbClr val="F8FCFD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1755648"/>
            <a:ext cx="228600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1755648"/>
            <a:ext cx="2286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Aluno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" y="214884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29768" y="2313432"/>
            <a:ext cx="1920240" cy="201168"/>
          </a:xfrm>
          <a:prstGeom prst="rect">
            <a:avLst/>
          </a:prstGeom>
          <a:solidFill>
            <a:srgbClr val="FAFAFA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58775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29768" y="2752344"/>
            <a:ext cx="1920240" cy="201168"/>
          </a:xfrm>
          <a:prstGeom prst="rect">
            <a:avLst/>
          </a:prstGeom>
          <a:solidFill>
            <a:srgbClr val="FAFAFA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02666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29768" y="3191256"/>
            <a:ext cx="1920240" cy="201168"/>
          </a:xfrm>
          <a:prstGeom prst="rect">
            <a:avLst/>
          </a:prstGeom>
          <a:solidFill>
            <a:srgbClr val="FAFAFA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" y="3611880"/>
            <a:ext cx="1920240" cy="219456"/>
          </a:xfrm>
          <a:prstGeom prst="roundRect">
            <a:avLst>
              <a:gd name="adj" fmla="val 20833"/>
            </a:avLst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" y="36118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Cadastrar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97480" y="1755648"/>
            <a:ext cx="6126480" cy="23957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697480" y="1755648"/>
            <a:ext cx="61264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2816352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Alunos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1837944"/>
            <a:ext cx="502920" cy="182880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183794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0" y="2103120"/>
            <a:ext cx="6035040" cy="21945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2788920" y="2103120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044952" y="210312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62272" y="210312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16752" y="21031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54112" y="2103120"/>
            <a:ext cx="1069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0" y="2322576"/>
            <a:ext cx="6035040" cy="420624"/>
          </a:xfrm>
          <a:prstGeom prst="rect">
            <a:avLst/>
          </a:prstGeom>
          <a:solidFill>
            <a:srgbClr val="F5FBFE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88920" y="24323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48" name="Text 46"/>
          <p:cNvSpPr/>
          <p:nvPr/>
        </p:nvSpPr>
        <p:spPr>
          <a:xfrm>
            <a:off x="2788920" y="24323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054096" y="2322576"/>
            <a:ext cx="1344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Silva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471416" y="2322576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joao@email.com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025896" y="2322576"/>
            <a:ext cx="1664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de Sistemas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754112" y="2414016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/>
        </p:spPr>
      </p:sp>
      <p:sp>
        <p:nvSpPr>
          <p:cNvPr id="53" name="Text 51"/>
          <p:cNvSpPr/>
          <p:nvPr/>
        </p:nvSpPr>
        <p:spPr>
          <a:xfrm>
            <a:off x="7754112" y="241401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229600" y="2414016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0" y="241401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743200" y="2761488"/>
            <a:ext cx="6035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88920" y="287121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58" name="Text 56"/>
          <p:cNvSpPr/>
          <p:nvPr/>
        </p:nvSpPr>
        <p:spPr>
          <a:xfrm>
            <a:off x="2788920" y="287121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054096" y="2761488"/>
            <a:ext cx="1344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Souza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471416" y="2761488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maria@email.com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025896" y="2761488"/>
            <a:ext cx="1664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754112" y="2852928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/>
        </p:spPr>
      </p:sp>
      <p:sp>
        <p:nvSpPr>
          <p:cNvPr id="63" name="Text 61"/>
          <p:cNvSpPr/>
          <p:nvPr/>
        </p:nvSpPr>
        <p:spPr>
          <a:xfrm>
            <a:off x="7754112" y="2852928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229600" y="2852928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29600" y="2852928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743200" y="3200400"/>
            <a:ext cx="6035040" cy="420624"/>
          </a:xfrm>
          <a:prstGeom prst="rect">
            <a:avLst/>
          </a:prstGeom>
          <a:solidFill>
            <a:srgbClr val="F5FBFE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88920" y="331012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68" name="Text 66"/>
          <p:cNvSpPr/>
          <p:nvPr/>
        </p:nvSpPr>
        <p:spPr>
          <a:xfrm>
            <a:off x="2788920" y="33101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054096" y="3200400"/>
            <a:ext cx="1344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Lima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471416" y="3200400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pedro@email.com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025896" y="3200400"/>
            <a:ext cx="1664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de Sistemas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754112" y="3291840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/>
        </p:spPr>
      </p:sp>
      <p:sp>
        <p:nvSpPr>
          <p:cNvPr id="73" name="Text 71"/>
          <p:cNvSpPr/>
          <p:nvPr/>
        </p:nvSpPr>
        <p:spPr>
          <a:xfrm>
            <a:off x="7754112" y="3291840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229600" y="3291840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0" y="3291840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743200" y="3639312"/>
            <a:ext cx="6035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88920" y="374904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/>
        </p:spPr>
      </p:sp>
      <p:sp>
        <p:nvSpPr>
          <p:cNvPr id="78" name="Text 76"/>
          <p:cNvSpPr/>
          <p:nvPr/>
        </p:nvSpPr>
        <p:spPr>
          <a:xfrm>
            <a:off x="2788920" y="3749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054096" y="3639312"/>
            <a:ext cx="1344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Costa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471416" y="3639312"/>
            <a:ext cx="14813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ana@email.com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025896" y="3639312"/>
            <a:ext cx="16642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Industrial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754112" y="3730752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0F3460"/>
          </a:solidFill>
          <a:ln/>
        </p:spPr>
      </p:sp>
      <p:sp>
        <p:nvSpPr>
          <p:cNvPr id="83" name="Text 81"/>
          <p:cNvSpPr/>
          <p:nvPr/>
        </p:nvSpPr>
        <p:spPr>
          <a:xfrm>
            <a:off x="7754112" y="3730752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229600" y="3730752"/>
            <a:ext cx="438912" cy="219456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29600" y="3730752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228600" y="4251960"/>
            <a:ext cx="8686800" cy="6217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7" name="Text 85"/>
          <p:cNvSpPr/>
          <p:nvPr/>
        </p:nvSpPr>
        <p:spPr>
          <a:xfrm>
            <a:off x="320040" y="4279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READ: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280160" y="4297680"/>
            <a:ext cx="1371600" cy="530352"/>
          </a:xfrm>
          <a:prstGeom prst="roundRect">
            <a:avLst>
              <a:gd name="adj" fmla="val 8621"/>
            </a:avLst>
          </a:prstGeom>
          <a:solidFill>
            <a:srgbClr val="0F3460"/>
          </a:solidFill>
          <a:ln/>
        </p:spPr>
      </p:sp>
      <p:sp>
        <p:nvSpPr>
          <p:cNvPr id="89" name="Text 87"/>
          <p:cNvSpPr/>
          <p:nvPr/>
        </p:nvSpPr>
        <p:spPr>
          <a:xfrm>
            <a:off x="1280160" y="42976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página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651760" y="4370832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→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2788920" y="4297680"/>
            <a:ext cx="1371600" cy="530352"/>
          </a:xfrm>
          <a:prstGeom prst="roundRect">
            <a:avLst>
              <a:gd name="adj" fmla="val 8621"/>
            </a:avLst>
          </a:prstGeom>
          <a:solidFill>
            <a:srgbClr val="0F3460"/>
          </a:solidFill>
          <a:ln/>
        </p:spPr>
      </p:sp>
      <p:sp>
        <p:nvSpPr>
          <p:cNvPr id="92" name="Text 90"/>
          <p:cNvSpPr/>
          <p:nvPr/>
        </p:nvSpPr>
        <p:spPr>
          <a:xfrm>
            <a:off x="2788920" y="42976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(Flask)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GET /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4160520" y="4370832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→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4297680" y="4297680"/>
            <a:ext cx="1371600" cy="530352"/>
          </a:xfrm>
          <a:prstGeom prst="roundRect">
            <a:avLst>
              <a:gd name="adj" fmla="val 8621"/>
            </a:avLst>
          </a:prstGeom>
          <a:solidFill>
            <a:srgbClr val="0F3460"/>
          </a:solidFill>
          <a:ln/>
        </p:spPr>
      </p:sp>
      <p:sp>
        <p:nvSpPr>
          <p:cNvPr id="95" name="Text 93"/>
          <p:cNvSpPr/>
          <p:nvPr/>
        </p:nvSpPr>
        <p:spPr>
          <a:xfrm>
            <a:off x="4297680" y="42976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consultar()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669280" y="4370832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→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5806440" y="4297680"/>
            <a:ext cx="1371600" cy="530352"/>
          </a:xfrm>
          <a:prstGeom prst="roundRect">
            <a:avLst>
              <a:gd name="adj" fmla="val 8621"/>
            </a:avLst>
          </a:prstGeom>
          <a:solidFill>
            <a:srgbClr val="0F3460"/>
          </a:solidFill>
          <a:ln/>
        </p:spPr>
      </p:sp>
      <p:sp>
        <p:nvSpPr>
          <p:cNvPr id="98" name="Text 96"/>
          <p:cNvSpPr/>
          <p:nvPr/>
        </p:nvSpPr>
        <p:spPr>
          <a:xfrm>
            <a:off x="5806440" y="42976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7178040" y="4370832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→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7315200" y="4297680"/>
            <a:ext cx="1371600" cy="530352"/>
          </a:xfrm>
          <a:prstGeom prst="roundRect">
            <a:avLst>
              <a:gd name="adj" fmla="val 8621"/>
            </a:avLst>
          </a:prstGeom>
          <a:solidFill>
            <a:srgbClr val="0F3460"/>
          </a:solidFill>
          <a:ln/>
        </p:spPr>
      </p:sp>
      <p:sp>
        <p:nvSpPr>
          <p:cNvPr id="101" name="Text 99"/>
          <p:cNvSpPr/>
          <p:nvPr/>
        </p:nvSpPr>
        <p:spPr>
          <a:xfrm>
            <a:off x="7315200" y="42976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lista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493776" cy="493776"/>
          </a:xfrm>
          <a:prstGeom prst="ellipse">
            <a:avLst/>
          </a:prstGeom>
          <a:solidFill>
            <a:srgbClr val="FFA65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" y="640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CRUD — UPDATE: Alterando um Aluno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6949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Clique em ✎ Editar na linha do aluno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969264"/>
            <a:ext cx="4206240" cy="320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05156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" y="10515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1051560"/>
            <a:ext cx="128016" cy="128016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024128"/>
            <a:ext cx="3200400" cy="201168"/>
          </a:xfrm>
          <a:prstGeom prst="roundRect">
            <a:avLst>
              <a:gd name="adj" fmla="val 13636"/>
            </a:avLst>
          </a:prstGeom>
          <a:solidFill>
            <a:srgbClr val="3D3D3D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1024128"/>
            <a:ext cx="3163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289304"/>
            <a:ext cx="420624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" y="135331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" y="135331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13533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Alunos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24912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24912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529584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2880" y="1636776"/>
            <a:ext cx="4206240" cy="1828800"/>
          </a:xfrm>
          <a:prstGeom prst="rect">
            <a:avLst/>
          </a:prstGeom>
          <a:solidFill>
            <a:srgbClr val="F8FCFD"/>
          </a:solidFill>
          <a:ln/>
        </p:spPr>
      </p:sp>
      <p:sp>
        <p:nvSpPr>
          <p:cNvPr id="24" name="Shape 22"/>
          <p:cNvSpPr/>
          <p:nvPr/>
        </p:nvSpPr>
        <p:spPr>
          <a:xfrm>
            <a:off x="256032" y="1709928"/>
            <a:ext cx="4069080" cy="21945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" y="170992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7784" y="1709928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81912" y="17099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70632" y="17099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929384"/>
            <a:ext cx="4069080" cy="384048"/>
          </a:xfrm>
          <a:prstGeom prst="rect">
            <a:avLst/>
          </a:prstGeom>
          <a:solidFill>
            <a:srgbClr val="FFF8E8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1929384"/>
            <a:ext cx="36576" cy="384048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" y="192938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6928" y="1929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Silva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91640" y="1929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joao@...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16352" y="2020824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FFA657"/>
          </a:solidFill>
          <a:ln w="19050">
            <a:solidFill>
              <a:srgbClr val="FFA657"/>
            </a:solidFill>
            <a:prstDash val="solid"/>
          </a:ln>
          <a:effectLst>
            <a:outerShdw sx="100000" sy="100000" kx="0" ky="0" algn="bl" rotWithShape="0" blurRad="63500" dist="25400" dir="8100000">
              <a:srgbClr val="E67E22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816352" y="202082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328416" y="2020824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28416" y="202082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6032" y="2331720"/>
            <a:ext cx="40690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233172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6928" y="2331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Souza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691640" y="2331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maria@...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816352" y="2423160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16352" y="2423160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28416" y="2423160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28416" y="2423160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56032" y="2734056"/>
            <a:ext cx="4069080" cy="384048"/>
          </a:xfrm>
          <a:prstGeom prst="rect">
            <a:avLst/>
          </a:prstGeom>
          <a:solidFill>
            <a:srgbClr val="F5FBFE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273405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66928" y="27340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Lima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691640" y="27340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pedro@...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816352" y="2825496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16352" y="282549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328416" y="2825496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28416" y="282549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407408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A657"/>
                </a:solidFill>
              </a:rPr>
              <a:t>▶▶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4892040" y="6949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Formulário de edição → Salvar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46320" y="969264"/>
            <a:ext cx="4114800" cy="320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956048" y="105156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8" name="Shape 56"/>
          <p:cNvSpPr/>
          <p:nvPr/>
        </p:nvSpPr>
        <p:spPr>
          <a:xfrm>
            <a:off x="5157216" y="10515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9" name="Shape 57"/>
          <p:cNvSpPr/>
          <p:nvPr/>
        </p:nvSpPr>
        <p:spPr>
          <a:xfrm>
            <a:off x="5358384" y="1051560"/>
            <a:ext cx="128016" cy="128016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60" name="Shape 58"/>
          <p:cNvSpPr/>
          <p:nvPr/>
        </p:nvSpPr>
        <p:spPr>
          <a:xfrm>
            <a:off x="5577840" y="1024128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3D3D3D"/>
          </a:solidFill>
          <a:ln/>
        </p:spPr>
      </p:sp>
      <p:sp>
        <p:nvSpPr>
          <p:cNvPr id="61" name="Text 59"/>
          <p:cNvSpPr/>
          <p:nvPr/>
        </p:nvSpPr>
        <p:spPr>
          <a:xfrm>
            <a:off x="5596128" y="1024128"/>
            <a:ext cx="3072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localhost:5000/editar/1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46320" y="1289304"/>
            <a:ext cx="41148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3" name="Shape 61"/>
          <p:cNvSpPr/>
          <p:nvPr/>
        </p:nvSpPr>
        <p:spPr>
          <a:xfrm>
            <a:off x="4956048" y="135331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64" name="Text 62"/>
          <p:cNvSpPr/>
          <p:nvPr/>
        </p:nvSpPr>
        <p:spPr>
          <a:xfrm>
            <a:off x="4956048" y="135331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504688" y="13533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Alunos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92240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92240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296912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FFA65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96912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101584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01584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846320" y="1636776"/>
            <a:ext cx="4114800" cy="2743200"/>
          </a:xfrm>
          <a:prstGeom prst="rect">
            <a:avLst/>
          </a:prstGeom>
          <a:solidFill>
            <a:srgbClr val="F8FCFD"/>
          </a:solidFill>
          <a:ln/>
        </p:spPr>
      </p:sp>
      <p:sp>
        <p:nvSpPr>
          <p:cNvPr id="73" name="Shape 71"/>
          <p:cNvSpPr/>
          <p:nvPr/>
        </p:nvSpPr>
        <p:spPr>
          <a:xfrm>
            <a:off x="5166360" y="1755648"/>
            <a:ext cx="347472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166360" y="1755648"/>
            <a:ext cx="3474720" cy="54864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75" name="Shape 73"/>
          <p:cNvSpPr/>
          <p:nvPr/>
        </p:nvSpPr>
        <p:spPr>
          <a:xfrm>
            <a:off x="5276088" y="1847088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DE8D0"/>
          </a:solidFill>
          <a:ln w="6350">
            <a:solidFill>
              <a:srgbClr val="FFA65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276088" y="1847088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6080760" y="18288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Editando Aluno #1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276088" y="213969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276088" y="2304288"/>
            <a:ext cx="3108960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FFA65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40096" y="2304288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Silva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276088" y="256032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era: João da Silva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276088" y="270662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5276088" y="2871216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340096" y="2871216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joao@email.com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276088" y="327355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276088" y="3438144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40096" y="3438144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de Sistemas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276088" y="3931920"/>
            <a:ext cx="1463040" cy="237744"/>
          </a:xfrm>
          <a:prstGeom prst="roundRect">
            <a:avLst>
              <a:gd name="adj" fmla="val 19231"/>
            </a:avLst>
          </a:prstGeom>
          <a:solidFill>
            <a:srgbClr val="EEEEEE"/>
          </a:solidFill>
          <a:ln/>
        </p:spPr>
      </p:sp>
      <p:sp>
        <p:nvSpPr>
          <p:cNvPr id="89" name="Text 87"/>
          <p:cNvSpPr/>
          <p:nvPr/>
        </p:nvSpPr>
        <p:spPr>
          <a:xfrm>
            <a:off x="5276088" y="39319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Cancelar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858000" y="3931920"/>
            <a:ext cx="1645920" cy="237744"/>
          </a:xfrm>
          <a:prstGeom prst="roundRect">
            <a:avLst>
              <a:gd name="adj" fmla="val 19231"/>
            </a:avLst>
          </a:prstGeom>
          <a:solidFill>
            <a:srgbClr val="00B4D8"/>
          </a:solidFill>
          <a:ln/>
        </p:spPr>
      </p:sp>
      <p:sp>
        <p:nvSpPr>
          <p:cNvPr id="91" name="Text 89"/>
          <p:cNvSpPr/>
          <p:nvPr/>
        </p:nvSpPr>
        <p:spPr>
          <a:xfrm>
            <a:off x="6858000" y="39319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Salvar Alterações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82880" y="4315968"/>
            <a:ext cx="8778240" cy="5303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3" name="Text 91"/>
          <p:cNvSpPr/>
          <p:nvPr/>
        </p:nvSpPr>
        <p:spPr>
          <a:xfrm>
            <a:off x="274320" y="43525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Após salvar: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325880" y="4370832"/>
            <a:ext cx="7406640" cy="256032"/>
          </a:xfrm>
          <a:prstGeom prst="rect">
            <a:avLst/>
          </a:prstGeom>
          <a:solidFill>
            <a:srgbClr val="D4EDDA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25880" y="4370832"/>
            <a:ext cx="54864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6" name="Text 94"/>
          <p:cNvSpPr/>
          <p:nvPr/>
        </p:nvSpPr>
        <p:spPr>
          <a:xfrm>
            <a:off x="1417320" y="4370832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Aluno atualizado com sucesso!  —  UPDATE alunos SET nome='João Silva' WHERE id=1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64008"/>
            <a:ext cx="493776" cy="49377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" y="640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CRUD — DELETE: Excluindo um Aluno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6949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Clique em ✕ Excluir na linha do aluno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969264"/>
            <a:ext cx="4206240" cy="320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05156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" y="10515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1051560"/>
            <a:ext cx="128016" cy="128016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024128"/>
            <a:ext cx="3200400" cy="201168"/>
          </a:xfrm>
          <a:prstGeom prst="roundRect">
            <a:avLst>
              <a:gd name="adj" fmla="val 13636"/>
            </a:avLst>
          </a:prstGeom>
          <a:solidFill>
            <a:srgbClr val="3D3D3D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1024128"/>
            <a:ext cx="3163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289304"/>
            <a:ext cx="420624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" y="135331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" y="135331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13533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Alunos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24912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FFA6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24912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529584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2880" y="1636776"/>
            <a:ext cx="4206240" cy="2103120"/>
          </a:xfrm>
          <a:prstGeom prst="rect">
            <a:avLst/>
          </a:prstGeom>
          <a:solidFill>
            <a:srgbClr val="F8FCFD"/>
          </a:solidFill>
          <a:ln/>
        </p:spPr>
      </p:sp>
      <p:sp>
        <p:nvSpPr>
          <p:cNvPr id="24" name="Shape 22"/>
          <p:cNvSpPr/>
          <p:nvPr/>
        </p:nvSpPr>
        <p:spPr>
          <a:xfrm>
            <a:off x="256032" y="1709928"/>
            <a:ext cx="4069080" cy="21945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" y="170992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7784" y="1709928"/>
            <a:ext cx="1024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81912" y="17099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70632" y="17099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929384"/>
            <a:ext cx="4069080" cy="384048"/>
          </a:xfrm>
          <a:prstGeom prst="rect">
            <a:avLst/>
          </a:prstGeom>
          <a:solidFill>
            <a:srgbClr val="F5FBFE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192938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6928" y="1929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Silva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91640" y="1929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joao@...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16352" y="2020824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/>
        </p:spPr>
      </p:sp>
      <p:sp>
        <p:nvSpPr>
          <p:cNvPr id="34" name="Text 32"/>
          <p:cNvSpPr/>
          <p:nvPr/>
        </p:nvSpPr>
        <p:spPr>
          <a:xfrm>
            <a:off x="2816352" y="202082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328416" y="2020824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2020824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032" y="2331720"/>
            <a:ext cx="40690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233172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6928" y="2331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Souza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691640" y="2331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maria@...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816352" y="2423160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/>
        </p:spPr>
      </p:sp>
      <p:sp>
        <p:nvSpPr>
          <p:cNvPr id="42" name="Text 40"/>
          <p:cNvSpPr/>
          <p:nvPr/>
        </p:nvSpPr>
        <p:spPr>
          <a:xfrm>
            <a:off x="2816352" y="2423160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328416" y="2423160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28416" y="2423160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6032" y="2734056"/>
            <a:ext cx="4069080" cy="384048"/>
          </a:xfrm>
          <a:prstGeom prst="rect">
            <a:avLst/>
          </a:prstGeom>
          <a:solidFill>
            <a:srgbClr val="FFF0F0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" y="2734056"/>
            <a:ext cx="36576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" y="273405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66928" y="27340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trike="sngStrike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Lima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691640" y="27340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pedro@...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816352" y="2825496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/>
        </p:spPr>
      </p:sp>
      <p:sp>
        <p:nvSpPr>
          <p:cNvPr id="51" name="Text 49"/>
          <p:cNvSpPr/>
          <p:nvPr/>
        </p:nvSpPr>
        <p:spPr>
          <a:xfrm>
            <a:off x="2816352" y="282549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328416" y="2825496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E74C3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28416" y="282549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56032" y="3136392"/>
            <a:ext cx="40690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E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3136392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66928" y="31363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Costa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691640" y="31363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ana@...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816352" y="3227832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0F3460"/>
          </a:solidFill>
          <a:ln/>
        </p:spPr>
      </p:sp>
      <p:sp>
        <p:nvSpPr>
          <p:cNvPr id="59" name="Text 57"/>
          <p:cNvSpPr/>
          <p:nvPr/>
        </p:nvSpPr>
        <p:spPr>
          <a:xfrm>
            <a:off x="2816352" y="322783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328416" y="3227832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FFF0F0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28416" y="322783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Excluir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407408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4C3C"/>
                </a:solidFill>
              </a:rPr>
              <a:t>▶▶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4892040" y="6949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Confirmação → ③ Resultado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46320" y="969264"/>
            <a:ext cx="4114800" cy="320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956048" y="105156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6" name="Shape 64"/>
          <p:cNvSpPr/>
          <p:nvPr/>
        </p:nvSpPr>
        <p:spPr>
          <a:xfrm>
            <a:off x="5157216" y="10515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7" name="Shape 65"/>
          <p:cNvSpPr/>
          <p:nvPr/>
        </p:nvSpPr>
        <p:spPr>
          <a:xfrm>
            <a:off x="5358384" y="1051560"/>
            <a:ext cx="128016" cy="128016"/>
          </a:xfrm>
          <a:prstGeom prst="ellipse">
            <a:avLst/>
          </a:prstGeom>
          <a:solidFill>
            <a:srgbClr val="28CA41"/>
          </a:solidFill>
          <a:ln/>
        </p:spPr>
      </p:sp>
      <p:sp>
        <p:nvSpPr>
          <p:cNvPr id="68" name="Shape 66"/>
          <p:cNvSpPr/>
          <p:nvPr/>
        </p:nvSpPr>
        <p:spPr>
          <a:xfrm>
            <a:off x="5577840" y="1024128"/>
            <a:ext cx="3108960" cy="201168"/>
          </a:xfrm>
          <a:prstGeom prst="roundRect">
            <a:avLst>
              <a:gd name="adj" fmla="val 13636"/>
            </a:avLst>
          </a:prstGeom>
          <a:solidFill>
            <a:srgbClr val="3D3D3D"/>
          </a:solidFill>
          <a:ln/>
        </p:spPr>
      </p:sp>
      <p:sp>
        <p:nvSpPr>
          <p:cNvPr id="69" name="Text 67"/>
          <p:cNvSpPr/>
          <p:nvPr/>
        </p:nvSpPr>
        <p:spPr>
          <a:xfrm>
            <a:off x="5596128" y="1024128"/>
            <a:ext cx="3072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46320" y="1289304"/>
            <a:ext cx="41148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1" name="Shape 69"/>
          <p:cNvSpPr/>
          <p:nvPr/>
        </p:nvSpPr>
        <p:spPr>
          <a:xfrm>
            <a:off x="4956048" y="1353312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</p:sp>
      <p:sp>
        <p:nvSpPr>
          <p:cNvPr id="72" name="Text 70"/>
          <p:cNvSpPr/>
          <p:nvPr/>
        </p:nvSpPr>
        <p:spPr>
          <a:xfrm>
            <a:off x="4956048" y="135331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504688" y="13533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Alunos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92240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92240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296912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FFA65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96912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8101584" y="1380744"/>
            <a:ext cx="749808" cy="182880"/>
          </a:xfrm>
          <a:prstGeom prst="roundRect">
            <a:avLst>
              <a:gd name="adj" fmla="val 20000"/>
            </a:avLst>
          </a:prstGeom>
          <a:solidFill>
            <a:srgbClr val="F0F7FA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01584" y="138074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846320" y="1636776"/>
            <a:ext cx="4114800" cy="1554480"/>
          </a:xfrm>
          <a:prstGeom prst="rect">
            <a:avLst/>
          </a:prstGeom>
          <a:solidFill>
            <a:srgbClr val="4A4A6A"/>
          </a:solidFill>
          <a:ln/>
        </p:spPr>
      </p:sp>
      <p:sp>
        <p:nvSpPr>
          <p:cNvPr id="81" name="Shape 79"/>
          <p:cNvSpPr/>
          <p:nvPr/>
        </p:nvSpPr>
        <p:spPr>
          <a:xfrm>
            <a:off x="5440680" y="1783080"/>
            <a:ext cx="2926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440680" y="1783080"/>
            <a:ext cx="2926080" cy="347472"/>
          </a:xfrm>
          <a:prstGeom prst="rect">
            <a:avLst/>
          </a:prstGeom>
          <a:solidFill>
            <a:srgbClr val="F8D7DA"/>
          </a:solidFill>
          <a:ln/>
        </p:spPr>
      </p:sp>
      <p:sp>
        <p:nvSpPr>
          <p:cNvPr id="83" name="Text 81"/>
          <p:cNvSpPr/>
          <p:nvPr/>
        </p:nvSpPr>
        <p:spPr>
          <a:xfrm>
            <a:off x="5468112" y="1801368"/>
            <a:ext cx="2871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Confirmar Exclusão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532120" y="21762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'Pedro Lima'?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532120" y="24323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ação não pode ser desfeita.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623560" y="2706624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623560" y="27066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949440" y="2706624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E74C3C"/>
          </a:solidFill>
          <a:ln/>
        </p:spPr>
      </p:sp>
      <p:sp>
        <p:nvSpPr>
          <p:cNvPr id="89" name="Text 87"/>
          <p:cNvSpPr/>
          <p:nvPr/>
        </p:nvSpPr>
        <p:spPr>
          <a:xfrm>
            <a:off x="6949440" y="27066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846320" y="3191256"/>
            <a:ext cx="4114800" cy="1097280"/>
          </a:xfrm>
          <a:prstGeom prst="rect">
            <a:avLst/>
          </a:prstGeom>
          <a:solidFill>
            <a:srgbClr val="F8FCFD"/>
          </a:solidFill>
          <a:ln/>
        </p:spPr>
      </p:sp>
      <p:sp>
        <p:nvSpPr>
          <p:cNvPr id="91" name="Shape 89"/>
          <p:cNvSpPr/>
          <p:nvPr/>
        </p:nvSpPr>
        <p:spPr>
          <a:xfrm>
            <a:off x="4846320" y="3218688"/>
            <a:ext cx="4114800" cy="256032"/>
          </a:xfrm>
          <a:prstGeom prst="rect">
            <a:avLst/>
          </a:prstGeom>
          <a:solidFill>
            <a:srgbClr val="D4EDDA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46320" y="3218688"/>
            <a:ext cx="54864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3" name="Text 91"/>
          <p:cNvSpPr/>
          <p:nvPr/>
        </p:nvSpPr>
        <p:spPr>
          <a:xfrm>
            <a:off x="4937760" y="32186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Aluno 'Pedro Lima' excluído com sucesso!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892040" y="3520440"/>
            <a:ext cx="4023360" cy="2011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5" name="Text 93"/>
          <p:cNvSpPr/>
          <p:nvPr/>
        </p:nvSpPr>
        <p:spPr>
          <a:xfrm>
            <a:off x="4937760" y="3520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|  Nome            |  E-mail              |  Curso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892040" y="3721608"/>
            <a:ext cx="4023360" cy="201168"/>
          </a:xfrm>
          <a:prstGeom prst="rect">
            <a:avLst/>
          </a:prstGeom>
          <a:solidFill>
            <a:srgbClr val="F5FBFE"/>
          </a:solidFill>
          <a:ln/>
        </p:spPr>
      </p:sp>
      <p:sp>
        <p:nvSpPr>
          <p:cNvPr id="97" name="Text 95"/>
          <p:cNvSpPr/>
          <p:nvPr/>
        </p:nvSpPr>
        <p:spPr>
          <a:xfrm>
            <a:off x="4937760" y="37216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|  João Silva      |  joao@email.com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892040" y="3922776"/>
            <a:ext cx="402336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7"/>
          <p:cNvSpPr/>
          <p:nvPr/>
        </p:nvSpPr>
        <p:spPr>
          <a:xfrm>
            <a:off x="4937760" y="39227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|  Maria Souza     |  maria@email.com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892040" y="4123944"/>
            <a:ext cx="4023360" cy="201168"/>
          </a:xfrm>
          <a:prstGeom prst="rect">
            <a:avLst/>
          </a:prstGeom>
          <a:solidFill>
            <a:srgbClr val="F5FBFE"/>
          </a:solidFill>
          <a:ln/>
        </p:spPr>
      </p:sp>
      <p:sp>
        <p:nvSpPr>
          <p:cNvPr id="101" name="Text 99"/>
          <p:cNvSpPr/>
          <p:nvPr/>
        </p:nvSpPr>
        <p:spPr>
          <a:xfrm>
            <a:off x="4937760" y="41239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3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|  Ana Costa       |  ana@email.com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182880" y="4315968"/>
            <a:ext cx="8778240" cy="5303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3" name="Text 101"/>
          <p:cNvSpPr/>
          <p:nvPr/>
        </p:nvSpPr>
        <p:spPr>
          <a:xfrm>
            <a:off x="274320" y="43525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DELETE: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417320" y="4334256"/>
            <a:ext cx="1371600" cy="475488"/>
          </a:xfrm>
          <a:prstGeom prst="roundRect">
            <a:avLst>
              <a:gd name="adj" fmla="val 9615"/>
            </a:avLst>
          </a:prstGeom>
          <a:solidFill>
            <a:srgbClr val="0F3460"/>
          </a:solidFill>
          <a:ln/>
        </p:spPr>
      </p:sp>
      <p:sp>
        <p:nvSpPr>
          <p:cNvPr id="105" name="Text 103"/>
          <p:cNvSpPr/>
          <p:nvPr/>
        </p:nvSpPr>
        <p:spPr>
          <a:xfrm>
            <a:off x="1417320" y="43342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/excluir/3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2788920" y="4407408"/>
            <a:ext cx="137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→</a:t>
            </a:r>
            <a:endParaRPr lang="en-US" sz="1400" dirty="0"/>
          </a:p>
        </p:txBody>
      </p:sp>
      <p:sp>
        <p:nvSpPr>
          <p:cNvPr id="107" name="Shape 105"/>
          <p:cNvSpPr/>
          <p:nvPr/>
        </p:nvSpPr>
        <p:spPr>
          <a:xfrm>
            <a:off x="2926080" y="4334256"/>
            <a:ext cx="1371600" cy="475488"/>
          </a:xfrm>
          <a:prstGeom prst="roundRect">
            <a:avLst>
              <a:gd name="adj" fmla="val 9615"/>
            </a:avLst>
          </a:prstGeom>
          <a:solidFill>
            <a:srgbClr val="0F3460"/>
          </a:solidFill>
          <a:ln/>
        </p:spPr>
      </p:sp>
      <p:sp>
        <p:nvSpPr>
          <p:cNvPr id="108" name="Text 106"/>
          <p:cNvSpPr/>
          <p:nvPr/>
        </p:nvSpPr>
        <p:spPr>
          <a:xfrm>
            <a:off x="2926080" y="43342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excluir(3)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4297680" y="4407408"/>
            <a:ext cx="137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→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4434840" y="4334256"/>
            <a:ext cx="1371600" cy="475488"/>
          </a:xfrm>
          <a:prstGeom prst="roundRect">
            <a:avLst>
              <a:gd name="adj" fmla="val 9615"/>
            </a:avLst>
          </a:prstGeom>
          <a:solidFill>
            <a:srgbClr val="0F3460"/>
          </a:solidFill>
          <a:ln/>
        </p:spPr>
      </p:sp>
      <p:sp>
        <p:nvSpPr>
          <p:cNvPr id="111" name="Text 109"/>
          <p:cNvSpPr/>
          <p:nvPr/>
        </p:nvSpPr>
        <p:spPr>
          <a:xfrm>
            <a:off x="4434840" y="43342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WHERE id=3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5806440" y="4407408"/>
            <a:ext cx="137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→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5943600" y="4334256"/>
            <a:ext cx="1371600" cy="475488"/>
          </a:xfrm>
          <a:prstGeom prst="roundRect">
            <a:avLst>
              <a:gd name="adj" fmla="val 9615"/>
            </a:avLst>
          </a:prstGeom>
          <a:solidFill>
            <a:srgbClr val="0F3460"/>
          </a:solidFill>
          <a:ln/>
        </p:spPr>
      </p:sp>
      <p:sp>
        <p:nvSpPr>
          <p:cNvPr id="114" name="Text 112"/>
          <p:cNvSpPr/>
          <p:nvPr/>
        </p:nvSpPr>
        <p:spPr>
          <a:xfrm>
            <a:off x="5943600" y="43342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removido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7315200" y="4407408"/>
            <a:ext cx="137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→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7452360" y="4334256"/>
            <a:ext cx="1371600" cy="475488"/>
          </a:xfrm>
          <a:prstGeom prst="roundRect">
            <a:avLst>
              <a:gd name="adj" fmla="val 9615"/>
            </a:avLst>
          </a:prstGeom>
          <a:solidFill>
            <a:srgbClr val="0F3460"/>
          </a:solidFill>
          <a:ln/>
        </p:spPr>
      </p:sp>
      <p:sp>
        <p:nvSpPr>
          <p:cNvPr id="117" name="Text 115"/>
          <p:cNvSpPr/>
          <p:nvPr/>
        </p:nvSpPr>
        <p:spPr>
          <a:xfrm>
            <a:off x="7452360" y="43342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página inicial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Sistemas com MVC</dc:title>
  <dc:subject>PptxGenJS Presentation</dc:subject>
  <dc:creator>PptxGenJS</dc:creator>
  <cp:lastModifiedBy>PptxGenJS</cp:lastModifiedBy>
  <cp:revision>1</cp:revision>
  <dcterms:created xsi:type="dcterms:W3CDTF">2026-05-09T21:09:12Z</dcterms:created>
  <dcterms:modified xsi:type="dcterms:W3CDTF">2026-05-09T21:09:12Z</dcterms:modified>
</cp:coreProperties>
</file>